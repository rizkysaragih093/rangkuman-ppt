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italic ns1:id="rIdFont19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07187ad-b07b-4478-b273-a6801b3331ab.fntdata" /><ns0:Relationship Id="rIdFont20" Type="http://schemas.openxmlformats.org/officeDocument/2006/relationships/font" Target="fonts/07a7a6a8-09b4-4ee8-9f3a-8ca31c937f92.fntdata" /><ns0:Relationship Id="rIdFont21" Type="http://schemas.openxmlformats.org/officeDocument/2006/relationships/font" Target="fonts/ebd20576-4831-48dd-9fd9-d8bb59be95d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69010"/>
            <a:ext cx="109728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50690"/>
            <a:ext cx="1924050" cy="28575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6901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11898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50" y="4711898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465040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Pemrograman Mobile Android dengan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94670"/>
            <a:ext cx="642937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Rangkuman Komprehensif Murni Bab 1 hingga Bab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0784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MODUL PERKULIAHAN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7950" y="1993552"/>
            <a:ext cx="3286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Teknik Informatika / Sistem Informasi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707135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Dosen Pengampu Matakuliah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200" y="4707135"/>
            <a:ext cx="3452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Referensi: Ebook Penulis Erma Susanti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25175" y="609600"/>
            <a:ext cx="65722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409825"/>
            <a:ext cx="5314950" cy="923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486150"/>
            <a:ext cx="5314950" cy="7429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81500"/>
            <a:ext cx="5314950" cy="9239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409825"/>
            <a:ext cx="38100" cy="9239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486150"/>
            <a:ext cx="38100" cy="742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381500"/>
            <a:ext cx="38100" cy="9239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143125"/>
            <a:ext cx="5314950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143125"/>
            <a:ext cx="531495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58525" y="666750"/>
            <a:ext cx="48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01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239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1 — FONDASI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76009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Pengenalan &amp; Stack Arsitektur Android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562225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Konsep Dasar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819400"/>
            <a:ext cx="499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Sistem operasi mobile open-source berbasis kernel Linux untuk layar sentuh.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38550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Android Runtime (ART)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95725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Pengganti Dalvik VM sejak API 21 untuk eksekusi aplikasi mandiri.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533900"/>
            <a:ext cx="642580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Java API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91075"/>
            <a:ext cx="49911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Layanan utama seperti Activity Manager, Content Provider, &amp; Notification Manager.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96600" y="609600"/>
            <a:ext cx="68580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38375"/>
            <a:ext cx="53721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238375"/>
            <a:ext cx="53721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0983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509837"/>
            <a:ext cx="25717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29950" y="66675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346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1 — LINGKUNGAN KERJA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771346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Tools &amp; Anatomi Project Android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505075"/>
            <a:ext cx="323790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Perangkat Pengembangan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895600"/>
            <a:ext cx="604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JDK: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Java SE Kit untuk kompilasi kode.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09925"/>
            <a:ext cx="604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Android Studio: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IDE standar berbasis IntelliJ.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24250"/>
            <a:ext cx="604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Android SDK: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Tools debugging, API &amp; 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38575"/>
            <a:ext cx="604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AVD / Physical Device: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Emulator atau HP Android.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2505075"/>
            <a:ext cx="208776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Struktur Direktori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89560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manifests: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Deskripsi aplikasi (AndroidManifest.xml).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209925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java: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Source code Java (Activity &amp; Logika).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52425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Resource (layout, values, drawable, string).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3838575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Gradle Scripts: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Konfigurasi build (build.gradle).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7075" y="609600"/>
            <a:ext cx="69532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609975"/>
            <a:ext cx="1905000" cy="885825"/>
          </a:xfrm>
          <a:prstGeom prst="roundRect">
            <a:avLst>
              <a:gd name="adj" fmla="val 860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76550" y="3609975"/>
            <a:ext cx="1905000" cy="885825"/>
          </a:xfrm>
          <a:prstGeom prst="roundRect">
            <a:avLst>
              <a:gd name="adj" fmla="val 860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43500" y="3609975"/>
            <a:ext cx="1905000" cy="885825"/>
          </a:xfrm>
          <a:prstGeom prst="roundRect">
            <a:avLst>
              <a:gd name="adj" fmla="val 8602"/>
            </a:avLst>
          </a:prstGeom>
          <a:solidFill>
            <a:srgbClr val="FDF4FF"/>
          </a:solidFill>
          <a:ln w="9525">
            <a:solidFill>
              <a:srgbClr val="F5D0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10450" y="3609975"/>
            <a:ext cx="1905000" cy="885825"/>
          </a:xfrm>
          <a:prstGeom prst="roundRect">
            <a:avLst>
              <a:gd name="adj" fmla="val 8602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77400" y="3609975"/>
            <a:ext cx="1905000" cy="885825"/>
          </a:xfrm>
          <a:prstGeom prst="roundRect">
            <a:avLst>
              <a:gd name="adj" fmla="val 860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3976687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3976687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3976687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0" y="3976687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127635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Activity adalah komponen antarmuka tunggal. Kelola alokasi memori melalui Callback Life Cycle: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20425" y="666750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03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6226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2 — KOMPONEN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66750"/>
            <a:ext cx="653831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Activity &amp; Daur Hidup (Life Cycle)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470" y="3771900"/>
            <a:ext cx="2075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D4ED8"/>
                </a:solidFill>
                <a:latin typeface="Plus Jakarta Sans"/>
              </a:rPr>
              <a:t>onCreate()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881" y="4029075"/>
            <a:ext cx="19764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Inisialisasi layout &amp; komponen dasar.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1420" y="3771900"/>
            <a:ext cx="2075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5803D"/>
                </a:solidFill>
                <a:latin typeface="Plus Jakarta Sans"/>
              </a:rPr>
              <a:t>onStart()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0831" y="4029075"/>
            <a:ext cx="19764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Activity mulai terlihat oleh pengguna.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8370" y="3771900"/>
            <a:ext cx="2075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A21CAF"/>
                </a:solidFill>
                <a:latin typeface="Plus Jakarta Sans"/>
              </a:rPr>
              <a:t>onResume()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7781" y="4029075"/>
            <a:ext cx="19764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Siap berinteraksi penuh (Foreground).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5320" y="3771900"/>
            <a:ext cx="2075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2410C"/>
                </a:solidFill>
                <a:latin typeface="Plus Jakarta Sans"/>
              </a:rPr>
              <a:t>onPause()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4731" y="4029075"/>
            <a:ext cx="19764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Tertutup sebagian activity lain.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270" y="3771900"/>
            <a:ext cx="20752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B91C1C"/>
                </a:solidFill>
                <a:latin typeface="Plus Jakarta Sans"/>
              </a:rPr>
              <a:t>onDestroy()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1681" y="4029075"/>
            <a:ext cx="19764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334155"/>
                </a:solidFill>
                <a:latin typeface="Plus Jakarta Sans"/>
              </a:rPr>
              <a:t>Activity dihancurkan dari memori.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7075" y="609600"/>
            <a:ext cx="69532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3353544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91744" y="2190750"/>
            <a:ext cx="3808660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004" y="2190750"/>
            <a:ext cx="3353544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324225"/>
            <a:ext cx="2820144" cy="657225"/>
          </a:xfrm>
          <a:prstGeom prst="roundRect">
            <a:avLst>
              <a:gd name="adj" fmla="val 8695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58444" y="3324225"/>
            <a:ext cx="3275260" cy="657225"/>
          </a:xfrm>
          <a:prstGeom prst="roundRect">
            <a:avLst>
              <a:gd name="adj" fmla="val 869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4955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444" y="249555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704" y="2495550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20425" y="666750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04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989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2 — NAVIGASI &amp; MODULARITAS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66750"/>
            <a:ext cx="838854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Mekanisme Intent &amp; Penggunaan Fragment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457450"/>
            <a:ext cx="3701439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Explicit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847975"/>
            <a:ext cx="29153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Menentukan kelas tujuan secara pasti dalam satu aplikasi.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438525"/>
            <a:ext cx="2686794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369A1"/>
                </a:solidFill>
                <a:latin typeface="monospace"/>
              </a:rPr>
              <a:t>Intent intent = new Intent(this, TargetActivity.class);</a:t>
            </a:r>
            <a:r>
              <a:t>
</a:t>
            </a:r>
            <a:r>
              <a:rPr b="0" sz="975" i="0" u="none">
                <a:solidFill>
                  <a:srgbClr val="0369A1"/>
                </a:solidFill>
                <a:latin typeface="monospace"/>
              </a:rPr>
              <a:t> startActivity(intent);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8444" y="2457450"/>
            <a:ext cx="4298779" cy="2381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97706"/>
                </a:solidFill>
                <a:latin typeface="Plus Jakarta Sans"/>
              </a:rPr>
              <a:t>Implicit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8444" y="2847975"/>
            <a:ext cx="337051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Meminta sistem menjalankan aksi tertentu (Dial, Map, Web).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744" y="3438525"/>
            <a:ext cx="314191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45309"/>
                </a:solidFill>
                <a:latin typeface="monospace"/>
              </a:rPr>
              <a:t>Intent intent = new Intent(Intent.ACTION_DIAL);</a:t>
            </a:r>
            <a:r>
              <a:t>
</a:t>
            </a:r>
            <a:r>
              <a:rPr b="0" sz="975" i="0" u="none">
                <a:solidFill>
                  <a:srgbClr val="B45309"/>
                </a:solidFill>
                <a:latin typeface="monospace"/>
              </a:rPr>
              <a:t> intent.setData(Uri.parse("tel:0812345"));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5704" y="2457450"/>
            <a:ext cx="3696295" cy="23812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Plus Jakarta Sans"/>
              </a:rPr>
              <a:t>Fragment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5704" y="2847975"/>
            <a:ext cx="29153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Bagian UI modular berulang yang hidup di dalam parent Activity.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1904" y="33051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8104" y="3324225"/>
            <a:ext cx="333468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Dapat digunakan kembali (Reusable UI).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1904" y="34766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8104" y="3495675"/>
            <a:ext cx="333468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Fleksibel untuk layout Tablet/HP.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7075" y="609600"/>
            <a:ext cx="69532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38375"/>
            <a:ext cx="35052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238375"/>
            <a:ext cx="35052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238375"/>
            <a:ext cx="35052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20425" y="666750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5488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3 — ANTARMUKA PENGGUNA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576322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Desain UI/UX &amp; Pilihan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66975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View vs ViewGroup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62250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View: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Komponen visual (Button, TextView, EditText).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00400"/>
            <a:ext cx="3143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ViewGroup: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Wadah pembentuk tata letak komponen.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6975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Jenis-jenis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2466975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Style, Theme &amp; Toast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2762250"/>
            <a:ext cx="3143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Style/Theme: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Menjaga konsistensi warna &amp; atribut visual.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181350"/>
            <a:ext cx="3143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Toast: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Notifikasi pop-up singkat tanpa mengganggu instruksi.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7432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2762250"/>
            <a:ext cx="2990850" cy="3429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LinearLayout: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Sesuai urutan vertikal/horizontal.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1623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400" y="3181350"/>
            <a:ext cx="2990850" cy="3429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ConstraintLayout: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Efisien, berdasarkan relasi batasan posisional.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200" y="35814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3600450"/>
            <a:ext cx="2990850" cy="3429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GridLayout / TableLayout: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Layout berupa baris &amp; kolom.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96600" y="609600"/>
            <a:ext cx="68580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57900" y="2238375"/>
            <a:ext cx="5524500" cy="32385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57475"/>
            <a:ext cx="5143500" cy="962025"/>
          </a:xfrm>
          <a:prstGeom prst="roundRect">
            <a:avLst>
              <a:gd name="adj" fmla="val 99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771900"/>
            <a:ext cx="5143500" cy="1285875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29950" y="66675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8179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3 — TAMPILAN DATA BANYAK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66750"/>
            <a:ext cx="858857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Optimalisasi Tampilan Daftar: RecyclerView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319462"/>
            <a:ext cx="5943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monospace"/>
              </a:rPr>
              <a:t>// Contoh Pola Adapter RecyclerView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538537"/>
            <a:ext cx="5943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monospace"/>
              </a:rPr>
              <a:t>public class ListAdapter extends RecyclerView.Adapter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81412"/>
            <a:ext cx="5791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monospace"/>
              </a:rPr>
              <a:t>@Override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24287"/>
            <a:ext cx="5791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monospace"/>
              </a:rPr>
              <a:t>public ViewHolder onCreateViewHolder(...)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67162"/>
            <a:ext cx="5791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monospace"/>
              </a:rPr>
              <a:t>@Override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0037"/>
            <a:ext cx="5791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monospace"/>
              </a:rPr>
              <a:t>public void onBindViewHolder(...) { ...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252912"/>
            <a:ext cx="59436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monospace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2838450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Mengapa RecyclerView?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3095625"/>
            <a:ext cx="4876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Plus Jakarta Sans"/>
              </a:rPr>
              <a:t>Lebih fleksibel &amp; hemat memori dibandingkan ListView tradisional karena mendaur ulang item yang keluar layar.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952875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Komponen Utama RecyclerView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2291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248150"/>
            <a:ext cx="576262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Adapter: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Mengikat data dari koleksi ke View Item.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4577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476750"/>
            <a:ext cx="576262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ViewHolder: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Menyimpan referensi komponen visual per baris.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4686300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025" y="4705350"/>
            <a:ext cx="576262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LayoutManager: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Menentukan bentuk tampilan (Linear/Grid).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96600" y="609600"/>
            <a:ext cx="68580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3505200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190750"/>
            <a:ext cx="3505200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190750"/>
            <a:ext cx="3505200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4112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24112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424112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29950" y="66675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8096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4 — PROCESS &amp; NOTIFIKASI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66750"/>
            <a:ext cx="850106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Background Task &amp; Notification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52725"/>
            <a:ext cx="3143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Menjadwalkan tugas pada waktu persis tertentu diluar siklus hidup aplikasi berjalan.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52725"/>
            <a:ext cx="3143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Eksekusi tugas bersyarat (misal: saat mengisi daya/terhubung WiFi) untuk menghemat baterai.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2752725"/>
            <a:ext cx="3143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Pesan ringkas pada status bar pengguna. Menggunakan Notification Channel sejak API 26 (Android 8.0).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19350"/>
            <a:ext cx="16502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Alarm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2419350"/>
            <a:ext cx="156269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Job 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2025" y="2419350"/>
            <a:ext cx="134016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87075" y="609600"/>
            <a:ext cx="695325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5334000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190750"/>
            <a:ext cx="5334000" cy="3333750"/>
          </a:xfrm>
          <a:prstGeom prst="roundRect">
            <a:avLst>
              <a:gd name="adj" fmla="val 3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462212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462212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20425" y="666750"/>
            <a:ext cx="523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262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5 — PERISTENSI DATA LOKAL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66750"/>
            <a:ext cx="762595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SharedPreferences &amp; SQLite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47975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Penyimpanan data primitif privat berbasis pasangan Key-Value dalam format XML.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847975"/>
            <a:ext cx="4895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Database relasional tertanam lokal untuk pengolahan data terstruktur terikat tabel.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457450"/>
            <a:ext cx="23752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Shared 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3432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362325"/>
            <a:ext cx="5786437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Cocok untuk preferensi, setting, atau status login.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5909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3609975"/>
            <a:ext cx="5786437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Mendukung tipe: String, Int, Boolean, Float, Long.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9425" y="2457450"/>
            <a:ext cx="206275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SQLite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3432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3362325"/>
            <a:ext cx="550545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Menggunakan bantuan kelas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SQLiteOpenHelper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350" y="359092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550" y="3609975"/>
            <a:ext cx="5505450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Mendukung penuh operasi CRUD (Create, Read, Update, Delete).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96600" y="609600"/>
            <a:ext cx="685800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667000"/>
            <a:ext cx="5314950" cy="942975"/>
          </a:xfrm>
          <a:prstGeom prst="rect">
            <a:avLst/>
          </a:prstGeom>
          <a:solidFill>
            <a:srgbClr val="FF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62375"/>
            <a:ext cx="5314950" cy="1285875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667000"/>
            <a:ext cx="38100" cy="9429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238375"/>
            <a:ext cx="5314950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238375"/>
            <a:ext cx="5314950" cy="3238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29950" y="666750"/>
            <a:ext cx="514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8131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BAB 6 — PENYIMPANAN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66750"/>
            <a:ext cx="853856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Firebase Realtime Database (Cloud NoSQL)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838450"/>
            <a:ext cx="64758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45309"/>
                </a:solidFill>
                <a:latin typeface="Plus Jakarta Sans"/>
              </a:rPr>
              <a:t>Karakteristik Firebase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095625"/>
            <a:ext cx="5029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8350F"/>
                </a:solidFill>
                <a:latin typeface="Plus Jakarta Sans"/>
              </a:rPr>
              <a:t>Database NoSQL berbasis Cloud yang menyimpan data dalam format objek JSON tunggal.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943350"/>
            <a:ext cx="6500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Keunggulan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195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238625"/>
            <a:ext cx="5976937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Realtime Sync: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Perubahan data otomatis diterima klien dalam milidetik.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4481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467225"/>
            <a:ext cx="5976937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Offline Support: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Data tersimpan lokal saat jaringan terputus.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676775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695825"/>
            <a:ext cx="5976937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Kemudahan Integrasi: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Menggunakan file </a:t>
            </a:r>
            <a:r>
              <a:rPr b="0" sz="1050" i="1" u="none">
                <a:solidFill>
                  <a:srgbClr val="475569"/>
                </a:solidFill>
                <a:latin typeface="Plus Jakarta Sans"/>
              </a:rPr>
              <a:t>google-services.json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67300" y="2095500"/>
            <a:ext cx="2057400" cy="4286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0" y="4295775"/>
            <a:ext cx="2286000" cy="466725"/>
          </a:xfrm>
          <a:prstGeom prst="roundRect">
            <a:avLst>
              <a:gd name="adj" fmla="val 16326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725" y="2209800"/>
            <a:ext cx="2114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ADE80"/>
                </a:solidFill>
                <a:latin typeface="Plus Jakarta Sans"/>
              </a:rPr>
              <a:t>RANGKUMAN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078" y="2752725"/>
            <a:ext cx="11703843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Plus Jakarta Sans"/>
              </a:rPr>
              <a:t>Siap Mempraktikkan Pemrograman Mobile?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6468" y="3438525"/>
            <a:ext cx="77390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Pelajari latihan pembuatan project di Android Studio, dari Activity sederhana hingga sinkronisasi data Firebase.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3950" y="4429125"/>
            <a:ext cx="2324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Sesi Tanya Jawab (Q&amp;A)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131445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07645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207645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4573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2288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100" y="10287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475" y="1495425"/>
            <a:ext cx="6429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https://developer.android.com/static/guide/platform/images/android-stack_2x.png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6475" y="1695450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developer.android.com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2266950"/>
            <a:ext cx="647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https://firebase.google.com/docs/emulator-suite/images/emulator_suite_block.png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2466975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firebase.google.com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